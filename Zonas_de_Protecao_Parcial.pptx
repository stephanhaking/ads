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Imagem de fundo: campos agrícolas vistos do ar, com degradê escuro para dar legibilidade ao 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hoto" descr="Campos agrícol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8096" cy="6858000"/>
          </a:xfrm>
          <a:prstGeom prst="rect">
            <a:avLst/>
          </a:prstGeom>
        </p:spPr>
      </p:pic>
      <p:sp>
        <p:nvSpPr>
          <p:cNvPr id="3" name="!!Kicker"/>
          <p:cNvSpPr txBox="1"/>
          <p:nvPr/>
        </p:nvSpPr>
        <p:spPr>
          <a:xfrm>
            <a:off x="758952" y="51206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3B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DE DIREITO AGRÁRIO · MOÇAMBIQUE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8229600" y="621792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 · DIREITO AGRÁRIO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11064240" y="512064"/>
            <a:ext cx="384048" cy="384048"/>
          </a:xfrm>
          <a:prstGeom prst="ellipse">
            <a:avLst/>
          </a:prstGeom>
          <a:solidFill>
            <a:srgbClr val="062D20">
              <a:alpha val="65000"/>
            </a:srgbClr>
          </a:solidFill>
          <a:ln w="19050">
            <a:solidFill>
              <a:srgbClr val="6C93D6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4824" y="612648"/>
            <a:ext cx="182880" cy="1828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58952" y="3941064"/>
            <a:ext cx="539496" cy="27432"/>
          </a:xfrm>
          <a:prstGeom prst="rect">
            <a:avLst/>
          </a:prstGeom>
          <a:solidFill>
            <a:srgbClr val="E3B93E"/>
          </a:solidFill>
          <a:ln/>
        </p:spPr>
      </p:sp>
      <p:sp>
        <p:nvSpPr>
          <p:cNvPr id="8" name="!!Title"/>
          <p:cNvSpPr txBox="1"/>
          <p:nvPr/>
        </p:nvSpPr>
        <p:spPr>
          <a:xfrm>
            <a:off x="758952" y="4160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Zonas de Proteção Parcial</a:t>
            </a:r>
            <a:endParaRPr lang="en-US" sz="6000" dirty="0"/>
          </a:p>
        </p:txBody>
      </p:sp>
      <p:sp>
        <p:nvSpPr>
          <p:cNvPr id="9" name="Text 5"/>
          <p:cNvSpPr txBox="1"/>
          <p:nvPr/>
        </p:nvSpPr>
        <p:spPr>
          <a:xfrm>
            <a:off x="758952" y="5257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2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n.º 19/97, de 1 de Outubro — Lei de Terras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2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Decreto n.º 66/98, de 8 de Dezembro — Regulamento da Lei de Terras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9144000" y="634593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DAD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OUTUBRO · 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2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hoto" descr="Cos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8096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0" y="53035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E8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 · ZONAS DE PROTEÇÃO PARCIAL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11365992" y="557784"/>
            <a:ext cx="73152" cy="73152"/>
          </a:xfrm>
          <a:prstGeom prst="ellipse">
            <a:avLst/>
          </a:prstGeom>
          <a:solidFill>
            <a:srgbClr val="E3B93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58952" y="15544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6" name="!!Kicker"/>
          <p:cNvSpPr txBox="1"/>
          <p:nvPr/>
        </p:nvSpPr>
        <p:spPr>
          <a:xfrm>
            <a:off x="758952" y="294436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3B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PRIMEIRO</a:t>
            </a:r>
            <a:endParaRPr lang="en-US" sz="1100" dirty="0"/>
          </a:p>
        </p:txBody>
      </p:sp>
      <p:sp>
        <p:nvSpPr>
          <p:cNvPr id="7" name="!!Title"/>
          <p:cNvSpPr txBox="1"/>
          <p:nvPr/>
        </p:nvSpPr>
        <p:spPr>
          <a:xfrm>
            <a:off x="758952" y="3273552"/>
            <a:ext cx="7132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 do Regime de Protecção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58952" y="468172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DED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Introdução, problemática, objectivos e metodologia que enquadram o estudo das zonas de protecção parcial em Moçambique.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58952" y="634593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DAD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DE DIREITO AGRÁRIO · MOÇAMBIQUE</a:t>
            </a:r>
            <a:endParaRPr lang="en-US" sz="1000" dirty="0"/>
          </a:p>
        </p:txBody>
      </p:sp>
      <p:sp>
        <p:nvSpPr>
          <p:cNvPr id="10" name="!!PageNum"/>
          <p:cNvSpPr txBox="1"/>
          <p:nvPr/>
        </p:nvSpPr>
        <p:spPr>
          <a:xfrm>
            <a:off x="10058400" y="634593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DAD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hoto" descr="Costa e rio em Moçamb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94944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65176" y="292608"/>
            <a:ext cx="73152" cy="73152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420624" y="2560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FOTOGRAFIA · RIO EM MOÇAMBIQUE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265176" y="6227064"/>
            <a:ext cx="4297680" cy="365760"/>
          </a:xfrm>
          <a:prstGeom prst="rect">
            <a:avLst/>
          </a:prstGeom>
          <a:solidFill>
            <a:srgbClr val="3F5A4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29768" y="622706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MARGENS DE RIOS — ÁREAS DE PROTEÇÃO PARCIAL</a:t>
            </a:r>
            <a:endParaRPr lang="en-US" sz="1100" dirty="0"/>
          </a:p>
        </p:txBody>
      </p:sp>
      <p:sp>
        <p:nvSpPr>
          <p:cNvPr id="7" name="!!Kicker"/>
          <p:cNvSpPr txBox="1"/>
          <p:nvPr/>
        </p:nvSpPr>
        <p:spPr>
          <a:xfrm>
            <a:off x="7232904" y="5303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01 · INTRODUÇÃO</a:t>
            </a:r>
            <a:endParaRPr lang="en-US" sz="1100" dirty="0"/>
          </a:p>
        </p:txBody>
      </p:sp>
      <p:sp>
        <p:nvSpPr>
          <p:cNvPr id="8" name="!!Title"/>
          <p:cNvSpPr txBox="1"/>
          <p:nvPr/>
        </p:nvSpPr>
        <p:spPr>
          <a:xfrm>
            <a:off x="7232904" y="91440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1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terra como recurso fundacional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7232904" y="2121408"/>
            <a:ext cx="4297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terra constitui o recurso fundamental para o desenvolvimento económico, social e ambiental de Moçambique. A Lei de Terras estabelece as regras gerais para o acesso, uso e aproveitamento, reconhecendo simultaneamente a sua função produtiva e a sua função ecológica.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232904" y="388620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zonas de proteção parcial estão sujeitas a limitações específicas que procuram salvaguardar recursos naturais, infra-estruturas públicas e interesses colectivos, harmonizando a ocupação humana com a preservação ambiental.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232904" y="614476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N.º 19/97 · DECRETO N.º 66/98</a:t>
            </a:r>
            <a:endParaRPr lang="en-US" sz="1000" dirty="0"/>
          </a:p>
        </p:txBody>
      </p:sp>
      <p:sp>
        <p:nvSpPr>
          <p:cNvPr id="12" name="!!PageNum"/>
          <p:cNvSpPr txBox="1"/>
          <p:nvPr/>
        </p:nvSpPr>
        <p:spPr>
          <a:xfrm>
            <a:off x="10515600" y="614476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hoto" descr="Campos agrícol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9904" y="0"/>
            <a:ext cx="61081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089904" y="5852160"/>
            <a:ext cx="6108192" cy="1005840"/>
          </a:xfrm>
          <a:prstGeom prst="rect">
            <a:avLst/>
          </a:prstGeom>
          <a:solidFill>
            <a:srgbClr val="062D20">
              <a:alpha val="6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364224" y="605332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«As zonas de protecção parcial constituem domínio público.»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0149840" y="219456"/>
            <a:ext cx="1280160" cy="219456"/>
          </a:xfrm>
          <a:prstGeom prst="rect">
            <a:avLst/>
          </a:prstGeom>
          <a:solidFill>
            <a:srgbClr val="062D20">
              <a:alpha val="75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149840" y="21945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LEGAL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1375136" y="493776"/>
            <a:ext cx="566928" cy="566928"/>
          </a:xfrm>
          <a:prstGeom prst="ellipse">
            <a:avLst/>
          </a:prstGeom>
          <a:solidFill>
            <a:srgbClr val="6F8479"/>
          </a:solidFill>
          <a:ln w="25400">
            <a:solidFill>
              <a:srgbClr val="8FB0E0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658368"/>
            <a:ext cx="237744" cy="237744"/>
          </a:xfrm>
          <a:prstGeom prst="rect">
            <a:avLst/>
          </a:prstGeom>
        </p:spPr>
      </p:pic>
      <p:sp>
        <p:nvSpPr>
          <p:cNvPr id="9" name="!!Kicker"/>
          <p:cNvSpPr txBox="1"/>
          <p:nvPr/>
        </p:nvSpPr>
        <p:spPr>
          <a:xfrm>
            <a:off x="530352" y="6035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02 · PROBLEMÁTICA</a:t>
            </a:r>
            <a:endParaRPr lang="en-US" sz="1100" dirty="0"/>
          </a:p>
        </p:txBody>
      </p:sp>
      <p:sp>
        <p:nvSpPr>
          <p:cNvPr id="10" name="!!Title"/>
          <p:cNvSpPr txBox="1"/>
          <p:nvPr/>
        </p:nvSpPr>
        <p:spPr>
          <a:xfrm>
            <a:off x="530352" y="987552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1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regime para as zonas de proteção parcial?</a:t>
            </a:r>
            <a:endParaRPr 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530352" y="2176272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Lei n.º 19/97 estabelece as zonas de proteção total e parcial como áreas do domínio público. Esta qualificação jurídica condiciona o regime de ocupação, uso e aproveitamento, levantando questões sobre a sua articulação com o desenvolvimento económico.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30352" y="3712464"/>
            <a:ext cx="5029200" cy="1865376"/>
          </a:xfrm>
          <a:prstGeom prst="rect">
            <a:avLst/>
          </a:prstGeom>
          <a:solidFill>
            <a:srgbClr val="E8E7D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49808" y="3858768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QUESTÃO DE PARTIDA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49808" y="4078224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1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que medida o regime jurídico das zonas de proteção parcial contribui para garantir a proteção e o uso sustentável da terra em Moçambique, e quais os principais desafios da sua implementação e fiscalização?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530352" y="60716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PROBLEMÁTICA · DIREITO AGRÁRIO</a:t>
            </a:r>
            <a:endParaRPr lang="en-US" sz="1000" dirty="0"/>
          </a:p>
        </p:txBody>
      </p:sp>
      <p:sp>
        <p:nvSpPr>
          <p:cNvPr id="16" name="!!PageNum"/>
          <p:cNvSpPr txBox="1"/>
          <p:nvPr/>
        </p:nvSpPr>
        <p:spPr>
          <a:xfrm>
            <a:off x="4572000" y="607161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hoto" descr="Rochas na sava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3216" y="0"/>
            <a:ext cx="4754880" cy="3017520"/>
          </a:xfrm>
          <a:prstGeom prst="rect">
            <a:avLst/>
          </a:prstGeom>
        </p:spPr>
      </p:pic>
      <p:sp>
        <p:nvSpPr>
          <p:cNvPr id="3" name="!!Kicker"/>
          <p:cNvSpPr txBox="1"/>
          <p:nvPr/>
        </p:nvSpPr>
        <p:spPr>
          <a:xfrm>
            <a:off x="768096" y="45720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03 · OBJECTIVOS</a:t>
            </a:r>
            <a:endParaRPr lang="en-US" sz="1100" dirty="0"/>
          </a:p>
        </p:txBody>
      </p:sp>
      <p:sp>
        <p:nvSpPr>
          <p:cNvPr id="4" name="!!Title"/>
          <p:cNvSpPr txBox="1"/>
          <p:nvPr/>
        </p:nvSpPr>
        <p:spPr>
          <a:xfrm>
            <a:off x="768096" y="731520"/>
            <a:ext cx="7315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1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Objectivos do estudo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68096" y="137160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propõe-se analisar, de forma sistemática, o regime jurídico das zonas de proteção parcial em Moçambique, articulando fontes legais, doutrina e prática administrativa.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68096" y="2084832"/>
            <a:ext cx="10661904" cy="914400"/>
          </a:xfrm>
          <a:prstGeom prst="rect">
            <a:avLst/>
          </a:prstGeom>
          <a:solidFill>
            <a:srgbClr val="FBF6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33272" y="2212848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OBJECTIVO GERAL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33272" y="2432304"/>
            <a:ext cx="10149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Analisar o regime jurídico das zonas de proteção parcial em Moçambique, identificando o seu âmbito, mecanismos e desafios de implementação.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768096" y="3218688"/>
            <a:ext cx="5248656" cy="1371600"/>
          </a:xfrm>
          <a:prstGeom prst="rect">
            <a:avLst/>
          </a:prstGeom>
          <a:solidFill>
            <a:srgbClr val="6F847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87552" y="33649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3B9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382219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e enquadramento jurídico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987552" y="4114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o regime legal e identificar a base normativa aplicável.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81344" y="3218688"/>
            <a:ext cx="5248656" cy="1371600"/>
          </a:xfrm>
          <a:prstGeom prst="rect">
            <a:avLst/>
          </a:prstGeom>
          <a:solidFill>
            <a:srgbClr val="6F8479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0" y="33649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3B9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382219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áreas abrangidas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4114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Mapear as categorias de zonas de proteção parcial previstas na lei.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68096" y="4754880"/>
            <a:ext cx="5248656" cy="1371600"/>
          </a:xfrm>
          <a:prstGeom prst="rect">
            <a:avLst/>
          </a:prstGeom>
          <a:solidFill>
            <a:srgbClr val="6F84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87552" y="490118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3B9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987552" y="5358384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Aquisição do DUAT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987552" y="565099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Compreender as restrições à aquisição de direitos de uso e aproveitamento da terra.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181344" y="4754880"/>
            <a:ext cx="5248656" cy="1371600"/>
          </a:xfrm>
          <a:prstGeom prst="rect">
            <a:avLst/>
          </a:prstGeom>
          <a:solidFill>
            <a:srgbClr val="6F8479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00800" y="490118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3B9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6400800" y="5358384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e conservação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0" y="565099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licenciamento de actividades e os mecanismos de conservação.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68096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OBJECTIVOS · DIREITO AGRÁRIO</a:t>
            </a:r>
            <a:endParaRPr lang="en-US" sz="1000" dirty="0"/>
          </a:p>
        </p:txBody>
      </p:sp>
      <p:sp>
        <p:nvSpPr>
          <p:cNvPr id="26" name="!!PageNum"/>
          <p:cNvSpPr txBox="1"/>
          <p:nvPr/>
        </p:nvSpPr>
        <p:spPr>
          <a:xfrm>
            <a:off x="10332720" y="651052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hoto" descr="Formações rochos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65176" y="265176"/>
            <a:ext cx="2377440" cy="320040"/>
          </a:xfrm>
          <a:prstGeom prst="rect">
            <a:avLst/>
          </a:prstGeom>
          <a:solidFill>
            <a:srgbClr val="3F5A4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21792" y="265176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DOCUMENTAL</a:t>
            </a:r>
            <a:endParaRPr lang="en-US" sz="9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356616"/>
            <a:ext cx="128016" cy="12801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700016" y="6062472"/>
            <a:ext cx="521208" cy="521208"/>
          </a:xfrm>
          <a:prstGeom prst="ellipse">
            <a:avLst/>
          </a:prstGeom>
          <a:solidFill>
            <a:srgbClr val="6F8479"/>
          </a:solidFill>
          <a:ln w="19050">
            <a:solidFill>
              <a:srgbClr val="C9A227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464" y="6227064"/>
            <a:ext cx="219456" cy="219456"/>
          </a:xfrm>
          <a:prstGeom prst="rect">
            <a:avLst/>
          </a:prstGeom>
        </p:spPr>
      </p:pic>
      <p:sp>
        <p:nvSpPr>
          <p:cNvPr id="8" name="!!Kicker"/>
          <p:cNvSpPr txBox="1"/>
          <p:nvPr/>
        </p:nvSpPr>
        <p:spPr>
          <a:xfrm>
            <a:off x="6016752" y="5303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04 · METODOLOGIA</a:t>
            </a:r>
            <a:endParaRPr lang="en-US" sz="1100" dirty="0"/>
          </a:p>
        </p:txBody>
      </p:sp>
      <p:sp>
        <p:nvSpPr>
          <p:cNvPr id="9" name="!!Title"/>
          <p:cNvSpPr txBox="1"/>
          <p:nvPr/>
        </p:nvSpPr>
        <p:spPr>
          <a:xfrm>
            <a:off x="6016752" y="89611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1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Caminho metodológico</a:t>
            </a:r>
            <a:endParaRPr lang="en-US" sz="3600" dirty="0"/>
          </a:p>
        </p:txBody>
      </p:sp>
      <p:sp>
        <p:nvSpPr>
          <p:cNvPr id="10" name="Text 5"/>
          <p:cNvSpPr txBox="1"/>
          <p:nvPr/>
        </p:nvSpPr>
        <p:spPr>
          <a:xfrm>
            <a:off x="6016752" y="1609344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pesquisa adopta uma abordagem qualitativa, de carácter descritivo e exploratório, apoiada em pesquisa bibliográfica e documental sobre o regime jurídico moçambicano da terra.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6016752" y="2615184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PRINCIPAIS</a:t>
            </a:r>
            <a:endParaRPr lang="en-US" sz="1000" dirty="0"/>
          </a:p>
        </p:txBody>
      </p:sp>
      <p:sp>
        <p:nvSpPr>
          <p:cNvPr id="12" name="Text 7"/>
          <p:cNvSpPr txBox="1"/>
          <p:nvPr/>
        </p:nvSpPr>
        <p:spPr>
          <a:xfrm>
            <a:off x="6016752" y="2852928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5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n.º 19/97, de 1 de Outubro — Lei de Terras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5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Decreto n.º 66/98, de 8 de Dezembro — Regulamento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5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Doutrina de Serra e Cunha sobre direito agrário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5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Legislação sectorial complementar</a:t>
            </a:r>
            <a:endParaRPr lang="en-US" sz="1550" dirty="0"/>
          </a:p>
        </p:txBody>
      </p:sp>
      <p:sp>
        <p:nvSpPr>
          <p:cNvPr id="13" name="Shape 8"/>
          <p:cNvSpPr/>
          <p:nvPr/>
        </p:nvSpPr>
        <p:spPr>
          <a:xfrm>
            <a:off x="6016752" y="4471416"/>
            <a:ext cx="5641848" cy="950976"/>
          </a:xfrm>
          <a:prstGeom prst="rect">
            <a:avLst/>
          </a:prstGeom>
          <a:solidFill>
            <a:srgbClr val="E8E7DF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6217920" y="4608576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 DE ANÁLISE</a:t>
            </a:r>
            <a:endParaRPr lang="en-US" sz="1000" dirty="0"/>
          </a:p>
        </p:txBody>
      </p:sp>
      <p:sp>
        <p:nvSpPr>
          <p:cNvPr id="15" name="Text 10"/>
          <p:cNvSpPr txBox="1"/>
          <p:nvPr/>
        </p:nvSpPr>
        <p:spPr>
          <a:xfrm>
            <a:off x="6217920" y="4828032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Organização, classificação, interpretação e discussão sistemática dos dados normativos e doutrinais recolhidos.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6016752" y="614476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· ABORDAGEM QUALITATIVA</a:t>
            </a:r>
            <a:endParaRPr lang="en-US" sz="1000" dirty="0"/>
          </a:p>
        </p:txBody>
      </p:sp>
      <p:sp>
        <p:nvSpPr>
          <p:cNvPr id="17" name="!!PageNum"/>
          <p:cNvSpPr txBox="1"/>
          <p:nvPr/>
        </p:nvSpPr>
        <p:spPr>
          <a:xfrm>
            <a:off x="10561320" y="614476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3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hoto" descr="Pista de aeropor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45936" y="0"/>
            <a:ext cx="58521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58952" y="17373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400" dirty="0"/>
          </a:p>
        </p:txBody>
      </p:sp>
      <p:sp>
        <p:nvSpPr>
          <p:cNvPr id="4" name="!!Kicker"/>
          <p:cNvSpPr txBox="1"/>
          <p:nvPr/>
        </p:nvSpPr>
        <p:spPr>
          <a:xfrm>
            <a:off x="2852928" y="187452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3B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SEGUNDO</a:t>
            </a:r>
            <a:endParaRPr lang="en-US" sz="1100" dirty="0"/>
          </a:p>
        </p:txBody>
      </p:sp>
      <p:sp>
        <p:nvSpPr>
          <p:cNvPr id="5" name="!!Title"/>
          <p:cNvSpPr txBox="1"/>
          <p:nvPr/>
        </p:nvSpPr>
        <p:spPr>
          <a:xfrm>
            <a:off x="2852928" y="2176272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Regime Jurídico das Zonas de Protecção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2852928" y="361188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4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Conceito, enquadramento legal, principais áreas abrangidas e o regime de aquisição do DUAT nas zonas de protecção parcial.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2852928" y="5010912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3B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N.º 19/97     |     DECRETO N.º 66/98     |     SERRA &amp; CUNHA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58952" y="641908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8D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ZONAS DE PROTEÇÃO PARCIAL · DIREITO AGRÁRIO</a:t>
            </a:r>
            <a:endParaRPr lang="en-US" sz="1000" dirty="0"/>
          </a:p>
        </p:txBody>
      </p:sp>
      <p:sp>
        <p:nvSpPr>
          <p:cNvPr id="9" name="!!PageNum"/>
          <p:cNvSpPr txBox="1"/>
          <p:nvPr/>
        </p:nvSpPr>
        <p:spPr>
          <a:xfrm>
            <a:off x="10332720" y="64190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C8D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doors dir="ver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hoto" descr="Agricultores a trabalhar a ter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0336" y="0"/>
            <a:ext cx="4937760" cy="6858000"/>
          </a:xfrm>
          <a:prstGeom prst="rect">
            <a:avLst/>
          </a:prstGeom>
        </p:spPr>
      </p:pic>
      <p:sp>
        <p:nvSpPr>
          <p:cNvPr id="3" name="!!Kicker"/>
          <p:cNvSpPr txBox="1"/>
          <p:nvPr/>
        </p:nvSpPr>
        <p:spPr>
          <a:xfrm>
            <a:off x="758952" y="5303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05 · CONCEITO</a:t>
            </a:r>
            <a:endParaRPr lang="en-US" sz="1100" dirty="0"/>
          </a:p>
        </p:txBody>
      </p:sp>
      <p:sp>
        <p:nvSpPr>
          <p:cNvPr id="4" name="!!Title"/>
          <p:cNvSpPr txBox="1"/>
          <p:nvPr/>
        </p:nvSpPr>
        <p:spPr>
          <a:xfrm>
            <a:off x="758952" y="896112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1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Áreas sujeitas a regime especial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758952" y="2029968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zonas de proteção parcial são áreas do território nacional sujeitas a um regime jurídico especial de protecção e utilização, destinadas a salvaguardar recursos naturais, infra-estruturas e interesses públicos relevantes.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58952" y="310896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–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6.º da Lei n.º 19/97 — zonas de protecção total e parcial constituem domínio público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–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8.º da mesma lei — identifica as áreas consideradas zonas de protecção parcial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–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Decreto n.º 66/98 — complementa e desenvolve o regime legal aplicável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–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Doutrina de Serra e Cunha — sublinha a importância para a protecção ambiental e o combate à erosão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58952" y="5687568"/>
            <a:ext cx="6035040" cy="841248"/>
          </a:xfrm>
          <a:prstGeom prst="rect">
            <a:avLst/>
          </a:prstGeom>
          <a:solidFill>
            <a:srgbClr val="F0E8D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78408" y="5797296"/>
            <a:ext cx="5623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1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«As zonas de protecção parcial constituem domínio público e estão sujeitas a um regime jurídico especial.»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978408" y="6272784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6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LEI N.º 19/97, ART. 6.º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534656" y="5852160"/>
            <a:ext cx="3931920" cy="475488"/>
          </a:xfrm>
          <a:prstGeom prst="rect">
            <a:avLst/>
          </a:prstGeom>
          <a:solidFill>
            <a:srgbClr val="062D20">
              <a:alpha val="70000"/>
            </a:srgb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735824" y="599846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CÓDICE JURÍDICO · REGIME DA TERRA</a:t>
            </a:r>
            <a:endParaRPr lang="en-US" sz="1100" dirty="0"/>
          </a:p>
        </p:txBody>
      </p:sp>
      <p:sp>
        <p:nvSpPr>
          <p:cNvPr id="12" name="!!PageNum"/>
          <p:cNvSpPr txBox="1"/>
          <p:nvPr/>
        </p:nvSpPr>
        <p:spPr>
          <a:xfrm>
            <a:off x="10332720" y="654710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758952" y="5669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06 · ÁREAS ABRANGIDAS</a:t>
            </a:r>
            <a:endParaRPr lang="en-US" sz="1100" dirty="0"/>
          </a:p>
        </p:txBody>
      </p:sp>
      <p:sp>
        <p:nvSpPr>
          <p:cNvPr id="3" name="!!Title"/>
          <p:cNvSpPr txBox="1"/>
          <p:nvPr/>
        </p:nvSpPr>
        <p:spPr>
          <a:xfrm>
            <a:off x="758952" y="877824"/>
            <a:ext cx="9144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1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Principais áreas de proteção parcial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9144000" y="128016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N.º 19/97 · ART. 8.º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60934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lei identifica um conjunto de categorias territoriais sujeitas a regime especial, repartidas entre protecção de recursos naturais, infra-estruturas públicas e interesses de soberania.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58952" y="2304288"/>
            <a:ext cx="2011680" cy="2670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2523744"/>
            <a:ext cx="457200" cy="457200"/>
          </a:xfrm>
          <a:prstGeom prst="ellipse">
            <a:avLst/>
          </a:prstGeom>
          <a:solidFill>
            <a:srgbClr val="E6ECE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651760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32688" y="310896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A6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32688" y="332841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Águas, nascentes e barragens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32688" y="380390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Protecção de fontes, rios e albufeiras.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32688" y="4626864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HÍDRICOS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921508" y="2304288"/>
            <a:ext cx="2011680" cy="2670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095244" y="2523744"/>
            <a:ext cx="457200" cy="457200"/>
          </a:xfrm>
          <a:prstGeom prst="ellipse">
            <a:avLst/>
          </a:prstGeom>
          <a:solidFill>
            <a:srgbClr val="E6ECE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3260" y="2651760"/>
            <a:ext cx="201168" cy="20116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095244" y="310896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A6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3095244" y="332841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férreas e estradas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3095244" y="380390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Faixas de segurança junto a vias de comunicação.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3095244" y="4626864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INFRA-ESTRUTURAS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084064" y="2304288"/>
            <a:ext cx="2011680" cy="2670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257800" y="2523744"/>
            <a:ext cx="457200" cy="457200"/>
          </a:xfrm>
          <a:prstGeom prst="ellipse">
            <a:avLst/>
          </a:prstGeom>
          <a:solidFill>
            <a:srgbClr val="E6ECE6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5816" y="2651760"/>
            <a:ext cx="201168" cy="20116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257800" y="310896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A6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5257800" y="332841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Aeroportos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5257800" y="380390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de protecção à navegação aérea.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5257800" y="4626864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NAVEGAÇÃO AÉREA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7246620" y="2304288"/>
            <a:ext cx="2011680" cy="2670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7420356" y="2523744"/>
            <a:ext cx="457200" cy="457200"/>
          </a:xfrm>
          <a:prstGeom prst="ellipse">
            <a:avLst/>
          </a:prstGeom>
          <a:solidFill>
            <a:srgbClr val="E6ECE6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8372" y="2651760"/>
            <a:ext cx="201168" cy="20116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7420356" y="310896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A6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7420356" y="332841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Instalações militares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7420356" y="380390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Perímetros de segurança nacional.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7420356" y="4626864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SOBERANIA</a:t>
            </a:r>
            <a:endParaRPr lang="en-US" sz="900" dirty="0"/>
          </a:p>
        </p:txBody>
      </p:sp>
      <p:sp>
        <p:nvSpPr>
          <p:cNvPr id="34" name="Shape 28"/>
          <p:cNvSpPr/>
          <p:nvPr/>
        </p:nvSpPr>
        <p:spPr>
          <a:xfrm>
            <a:off x="9409176" y="2304288"/>
            <a:ext cx="2011680" cy="2670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9582912" y="2523744"/>
            <a:ext cx="457200" cy="457200"/>
          </a:xfrm>
          <a:prstGeom prst="ellipse">
            <a:avLst/>
          </a:prstGeom>
          <a:solidFill>
            <a:srgbClr val="E6ECE6"/>
          </a:solidFill>
          <a:ln/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0928" y="2651760"/>
            <a:ext cx="201168" cy="201168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9582912" y="310896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A6D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9582912" y="332841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Fronteira terrestre</a:t>
            </a:r>
            <a:endParaRPr lang="en-US" sz="1500" dirty="0"/>
          </a:p>
        </p:txBody>
      </p:sp>
      <p:sp>
        <p:nvSpPr>
          <p:cNvPr id="39" name="Text 32"/>
          <p:cNvSpPr txBox="1"/>
          <p:nvPr/>
        </p:nvSpPr>
        <p:spPr>
          <a:xfrm>
            <a:off x="9582912" y="3803904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Faixas ao longo da fronteira do território.</a:t>
            </a:r>
            <a:endParaRPr lang="en-US" sz="1200" dirty="0"/>
          </a:p>
        </p:txBody>
      </p:sp>
      <p:sp>
        <p:nvSpPr>
          <p:cNvPr id="40" name="Text 33"/>
          <p:cNvSpPr txBox="1"/>
          <p:nvPr/>
        </p:nvSpPr>
        <p:spPr>
          <a:xfrm>
            <a:off x="9582912" y="4626864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TERRITORIAL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758952" y="5202936"/>
            <a:ext cx="10661904" cy="749808"/>
          </a:xfrm>
          <a:prstGeom prst="rect">
            <a:avLst/>
          </a:prstGeom>
          <a:solidFill>
            <a:srgbClr val="E1E4DB"/>
          </a:solidFill>
          <a:ln/>
        </p:spPr>
      </p:sp>
      <p:sp>
        <p:nvSpPr>
          <p:cNvPr id="42" name="Shape 35"/>
          <p:cNvSpPr/>
          <p:nvPr/>
        </p:nvSpPr>
        <p:spPr>
          <a:xfrm>
            <a:off x="969264" y="5367528"/>
            <a:ext cx="420624" cy="420624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3" name="Text 36"/>
          <p:cNvSpPr txBox="1"/>
          <p:nvPr/>
        </p:nvSpPr>
        <p:spPr>
          <a:xfrm>
            <a:off x="969264" y="5367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 5.º</a:t>
            </a:r>
            <a:endParaRPr lang="en-US" sz="1200" dirty="0"/>
          </a:p>
        </p:txBody>
      </p:sp>
      <p:sp>
        <p:nvSpPr>
          <p:cNvPr id="44" name="Text 37"/>
          <p:cNvSpPr txBox="1"/>
          <p:nvPr/>
        </p:nvSpPr>
        <p:spPr>
          <a:xfrm>
            <a:off x="1572768" y="5404104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DECRETO N.º 66/98</a:t>
            </a:r>
            <a:endParaRPr lang="en-US" sz="1000" dirty="0"/>
          </a:p>
        </p:txBody>
      </p:sp>
      <p:sp>
        <p:nvSpPr>
          <p:cNvPr id="45" name="Text 38"/>
          <p:cNvSpPr txBox="1"/>
          <p:nvPr/>
        </p:nvSpPr>
        <p:spPr>
          <a:xfrm>
            <a:off x="1572768" y="5586984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protecção até 50 metros junto das águas fluviais e lacustres navegáveis.</a:t>
            </a:r>
            <a:endParaRPr lang="en-US" sz="1500" dirty="0"/>
          </a:p>
        </p:txBody>
      </p:sp>
      <p:sp>
        <p:nvSpPr>
          <p:cNvPr id="46" name="Text 39"/>
          <p:cNvSpPr txBox="1"/>
          <p:nvPr/>
        </p:nvSpPr>
        <p:spPr>
          <a:xfrm>
            <a:off x="9144000" y="548640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 · NAVEGAÇÃO</a:t>
            </a:r>
            <a:endParaRPr lang="en-US" sz="1100" dirty="0"/>
          </a:p>
        </p:txBody>
      </p:sp>
      <p:sp>
        <p:nvSpPr>
          <p:cNvPr id="47" name="Text 40"/>
          <p:cNvSpPr txBox="1"/>
          <p:nvPr/>
        </p:nvSpPr>
        <p:spPr>
          <a:xfrm>
            <a:off x="758952" y="641908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ZONAS DE PROTEÇÃO PARCIAL · DIREITO AGRÁRIO</a:t>
            </a:r>
            <a:endParaRPr lang="en-US" sz="1000" dirty="0"/>
          </a:p>
        </p:txBody>
      </p:sp>
      <p:sp>
        <p:nvSpPr>
          <p:cNvPr id="48" name="!!PageNum"/>
          <p:cNvSpPr txBox="1"/>
          <p:nvPr/>
        </p:nvSpPr>
        <p:spPr>
          <a:xfrm>
            <a:off x="10332720" y="64190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400">
        <p14:pan dir="r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2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784080" y="365760"/>
            <a:ext cx="2011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0" b="1" dirty="0">
                <a:solidFill>
                  <a:srgbClr val="0E3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</a:t>
            </a:r>
            <a:endParaRPr lang="en-US" sz="23000" dirty="0"/>
          </a:p>
        </p:txBody>
      </p:sp>
      <p:sp>
        <p:nvSpPr>
          <p:cNvPr id="3" name="!!Kicker"/>
          <p:cNvSpPr txBox="1"/>
          <p:nvPr/>
        </p:nvSpPr>
        <p:spPr>
          <a:xfrm>
            <a:off x="1828800" y="640080"/>
            <a:ext cx="8540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3B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07 · AQUISIÇÃO DO DUAT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828800" y="1051560"/>
            <a:ext cx="8540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Art. 9.º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2157984"/>
            <a:ext cx="8540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C8D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N.º 19/97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901952" y="2624328"/>
            <a:ext cx="8385048" cy="1261872"/>
          </a:xfrm>
          <a:prstGeom prst="rect">
            <a:avLst/>
          </a:prstGeom>
          <a:solidFill>
            <a:srgbClr val="16382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286000" y="2798064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«Nas zonas de protecção total e parcial não podem ser adquiridos direitos de uso e aproveitamento da terra.»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768096" y="4178808"/>
            <a:ext cx="3419856" cy="1938528"/>
          </a:xfrm>
          <a:prstGeom prst="rect">
            <a:avLst/>
          </a:prstGeom>
          <a:solidFill>
            <a:srgbClr val="0B3125"/>
          </a:solidFill>
          <a:ln w="12700">
            <a:solidFill>
              <a:srgbClr val="4A5A22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4398264"/>
            <a:ext cx="310896" cy="31089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87552" y="492861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3B9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518464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Proibição do DUAT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987552" y="547725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4D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possível adquirir o Direito de Uso e Aproveitamento da Terra nestas zonas.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89120" y="4178808"/>
            <a:ext cx="3419856" cy="1938528"/>
          </a:xfrm>
          <a:prstGeom prst="rect">
            <a:avLst/>
          </a:prstGeom>
          <a:solidFill>
            <a:srgbClr val="0B3125"/>
          </a:solidFill>
          <a:ln w="12700">
            <a:solidFill>
              <a:srgbClr val="4A5A22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398264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08576" y="492861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3B9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608576" y="518464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Licenças especiais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4608576" y="547725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4D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Podem ser emitidas licenças para actividades específicas, devidamente condicionadas.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8010144" y="4178808"/>
            <a:ext cx="3419856" cy="1938528"/>
          </a:xfrm>
          <a:prstGeom prst="rect">
            <a:avLst/>
          </a:prstGeom>
          <a:solidFill>
            <a:srgbClr val="0B3125"/>
          </a:solidFill>
          <a:ln w="12700">
            <a:solidFill>
              <a:srgbClr val="4A5A2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398264"/>
            <a:ext cx="310896" cy="31089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229600" y="492861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3B9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8229600" y="518464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equivale a propriedade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8229600" y="547725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4D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licença especial não se confunde com propriedade nem com DUAT.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58952" y="641908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8D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ZONAS DE PROTEÇÃO PARCIAL · DIREITO AGRÁRIO</a:t>
            </a:r>
            <a:endParaRPr lang="en-US" sz="1000" dirty="0"/>
          </a:p>
        </p:txBody>
      </p:sp>
      <p:sp>
        <p:nvSpPr>
          <p:cNvPr id="24" name="!!PageNum"/>
          <p:cNvSpPr txBox="1"/>
          <p:nvPr/>
        </p:nvSpPr>
        <p:spPr>
          <a:xfrm>
            <a:off x="10332720" y="64190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C8D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1000" dirty="0"/>
          </a:p>
        </p:txBody>
      </p:sp>
    </p:spTree>
  </p:cSld>
  <p:clrMapOvr>
    <a:masterClrMapping/>
  </p:clrMapOvr>
  <p:transition spd="slow">
    <p:fade thruBlk="1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hoto" descr="Campos agrícol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7456" y="0"/>
            <a:ext cx="51206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58952" y="173736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400" dirty="0"/>
          </a:p>
        </p:txBody>
      </p:sp>
      <p:sp>
        <p:nvSpPr>
          <p:cNvPr id="4" name="!!Kicker"/>
          <p:cNvSpPr txBox="1"/>
          <p:nvPr/>
        </p:nvSpPr>
        <p:spPr>
          <a:xfrm>
            <a:off x="2788920" y="187452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3B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TERCEIRO</a:t>
            </a:r>
            <a:endParaRPr lang="en-US" sz="1100" dirty="0"/>
          </a:p>
        </p:txBody>
      </p:sp>
      <p:sp>
        <p:nvSpPr>
          <p:cNvPr id="5" name="!!Title"/>
          <p:cNvSpPr txBox="1"/>
          <p:nvPr/>
        </p:nvSpPr>
        <p:spPr>
          <a:xfrm>
            <a:off x="2788920" y="2176272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Actividades, Conservação e Mecanismos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2788920" y="36118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4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regime das zonas de protecção parcial não significa ausência de actividade humana, mas sim a sua sujeição a um quadro rigoroso de licenciamento e limitações.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2788920" y="5010912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3B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    |     CONSERVAÇÃO     |     MECANISMOS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58952" y="641908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8D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ZONAS DE PROTEÇÃO PARCIAL · DIREITO AGRÁRIO</a:t>
            </a:r>
            <a:endParaRPr lang="en-US" sz="1000" dirty="0"/>
          </a:p>
        </p:txBody>
      </p:sp>
      <p:sp>
        <p:nvSpPr>
          <p:cNvPr id="9" name="!!PageNum"/>
          <p:cNvSpPr txBox="1"/>
          <p:nvPr/>
        </p:nvSpPr>
        <p:spPr>
          <a:xfrm>
            <a:off x="10332720" y="64190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C8D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doors dir="ver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hoto" descr="Pista de aeropor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099048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401568" y="265176"/>
            <a:ext cx="2423160" cy="438912"/>
          </a:xfrm>
          <a:prstGeom prst="rect">
            <a:avLst/>
          </a:prstGeom>
          <a:solidFill>
            <a:srgbClr val="6F847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E3B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DE LICENCIAMENTO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265176" y="6309360"/>
            <a:ext cx="3474720" cy="329184"/>
          </a:xfrm>
          <a:prstGeom prst="rect">
            <a:avLst/>
          </a:prstGeom>
          <a:solidFill>
            <a:srgbClr val="062D20">
              <a:alpha val="70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420624" y="630936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INFRA-ESTRUTURAS EM ÁREAS PROTEGIDAS</a:t>
            </a:r>
            <a:endParaRPr lang="en-US" sz="1000" dirty="0"/>
          </a:p>
        </p:txBody>
      </p:sp>
      <p:sp>
        <p:nvSpPr>
          <p:cNvPr id="6" name="!!Kicker"/>
          <p:cNvSpPr txBox="1"/>
          <p:nvPr/>
        </p:nvSpPr>
        <p:spPr>
          <a:xfrm>
            <a:off x="6620256" y="5303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08 · ACTIVIDADES ECONÓMICAS</a:t>
            </a:r>
            <a:endParaRPr lang="en-US" sz="1100" dirty="0"/>
          </a:p>
        </p:txBody>
      </p:sp>
      <p:sp>
        <p:nvSpPr>
          <p:cNvPr id="7" name="!!Title"/>
          <p:cNvSpPr txBox="1"/>
          <p:nvPr/>
        </p:nvSpPr>
        <p:spPr>
          <a:xfrm>
            <a:off x="6620256" y="896112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1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Actividade económica condicionada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6620256" y="2029968"/>
            <a:ext cx="4809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zonas de protecção parcial não são necessariamente áreas despovoadas de actividade humana. O exercício de actividades está condicionado ao regime de protecção, devendo conciliar o uso económico com a finalidade protectora da zona.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620256" y="3099816"/>
            <a:ext cx="4809744" cy="969264"/>
          </a:xfrm>
          <a:prstGeom prst="rect">
            <a:avLst/>
          </a:prstGeom>
          <a:solidFill>
            <a:srgbClr val="E8E7D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821424" y="3246120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LEGAL — ART. 8.º DO DECRETO N.º 66/98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821424" y="34747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actividades devem ser licenciadas pela entidade competente.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620256" y="4315968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6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A CONSIDERAR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620256" y="4553712"/>
            <a:ext cx="480974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Natureza da actividade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Localização e finalidade da zona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Legislação sectorial aplicável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de impactos ambientais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 específicas da licença</a:t>
            </a:r>
            <a:endParaRPr lang="en-US" sz="1500" dirty="0"/>
          </a:p>
        </p:txBody>
      </p:sp>
      <p:sp>
        <p:nvSpPr>
          <p:cNvPr id="14" name="!!PageNum"/>
          <p:cNvSpPr txBox="1"/>
          <p:nvPr/>
        </p:nvSpPr>
        <p:spPr>
          <a:xfrm>
            <a:off x="10332720" y="64190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758952" y="5303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09 · ECONOMIA E AMBIENTE</a:t>
            </a:r>
            <a:endParaRPr lang="en-US" sz="1100" dirty="0"/>
          </a:p>
        </p:txBody>
      </p:sp>
      <p:sp>
        <p:nvSpPr>
          <p:cNvPr id="3" name="!!Title"/>
          <p:cNvSpPr txBox="1"/>
          <p:nvPr/>
        </p:nvSpPr>
        <p:spPr>
          <a:xfrm>
            <a:off x="758952" y="877824"/>
            <a:ext cx="10058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1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Equilibrar uso e protecção ambiental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157276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actividade económica deve respeitar a finalidade protectora da zona. O uso inadequado dos recursos pode desencadear impactos ambientais severos e comprometer os objectivos do regime.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68096" y="2432304"/>
            <a:ext cx="5175504" cy="3419856"/>
          </a:xfrm>
          <a:prstGeom prst="rect">
            <a:avLst/>
          </a:prstGeom>
          <a:solidFill>
            <a:srgbClr val="062D2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33272" y="2706624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3B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SUSTENTÁVEL PERMITIDO</a:t>
            </a:r>
            <a:endParaRPr lang="en-US" sz="10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3035808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33272" y="3584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sustentável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1033272" y="4005072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40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licenciadas pela entidade competente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40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Respeito pela finalidade protectora da zona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40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prévia de impactos ambientais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40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Cumprimento da legislação sectorial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54496" y="2432304"/>
            <a:ext cx="5175504" cy="341985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537960" y="2706624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DE USO INADEQUADO</a:t>
            </a:r>
            <a:endParaRPr lang="en-US" sz="10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3035808"/>
            <a:ext cx="347472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37960" y="3584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62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Consequências adversas</a:t>
            </a:r>
            <a:endParaRPr lang="en-US" sz="2100" dirty="0"/>
          </a:p>
        </p:txBody>
      </p:sp>
      <p:sp>
        <p:nvSpPr>
          <p:cNvPr id="14" name="Text 10"/>
          <p:cNvSpPr txBox="1"/>
          <p:nvPr/>
        </p:nvSpPr>
        <p:spPr>
          <a:xfrm>
            <a:off x="6537960" y="4005072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Erosão acelerada dos solos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Poluição de águas e solos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Destruição da vegetação nativa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Degradação dos ecossistemas locais</a:t>
            </a:r>
            <a:endParaRPr lang="en-US" sz="1400" dirty="0"/>
          </a:p>
        </p:txBody>
      </p:sp>
      <p:sp>
        <p:nvSpPr>
          <p:cNvPr id="15" name="!!PageNum"/>
          <p:cNvSpPr txBox="1"/>
          <p:nvPr/>
        </p:nvSpPr>
        <p:spPr>
          <a:xfrm>
            <a:off x="10332720" y="64190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"/>
          <p:cNvSpPr txBox="1"/>
          <p:nvPr/>
        </p:nvSpPr>
        <p:spPr>
          <a:xfrm>
            <a:off x="758952" y="45720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10 · CONSERVAÇÃO</a:t>
            </a:r>
            <a:endParaRPr lang="en-US" sz="1100" dirty="0"/>
          </a:p>
        </p:txBody>
      </p:sp>
      <p:sp>
        <p:nvSpPr>
          <p:cNvPr id="3" name="!!Title"/>
          <p:cNvSpPr txBox="1"/>
          <p:nvPr/>
        </p:nvSpPr>
        <p:spPr>
          <a:xfrm>
            <a:off x="758952" y="731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1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Conservar para proteger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138988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conservação constitui uma das principais finalidades das zonas de protecção parcial, abrangendo a preservação de ecossistemas, a prevenção da degradação e o controlo da ocupação territorial.</a:t>
            </a:r>
            <a:endParaRPr lang="en-US" sz="1450" dirty="0"/>
          </a:p>
        </p:txBody>
      </p:sp>
      <p:pic>
        <p:nvPicPr>
          <p:cNvPr id="5" name="Tile1" descr="Vegetação e camp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724912"/>
            <a:ext cx="5193792" cy="3291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50976" y="5084064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3B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ECOSSISTEMAS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950976" y="526694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Preservação de ecossistemas e vegetação nativa</a:t>
            </a:r>
            <a:endParaRPr lang="en-US" sz="2000" dirty="0"/>
          </a:p>
        </p:txBody>
      </p:sp>
      <p:pic>
        <p:nvPicPr>
          <p:cNvPr id="8" name="Tile2" descr="Costa e marge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3104" y="2724912"/>
            <a:ext cx="2596896" cy="1600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15984" y="371246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3B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MARGENS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9015984" y="389534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e margens dos rios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099048" y="2724912"/>
            <a:ext cx="2596896" cy="1581912"/>
          </a:xfrm>
          <a:prstGeom prst="rect">
            <a:avLst/>
          </a:prstGeom>
          <a:solidFill>
            <a:srgbClr val="78968A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92608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91072" y="343814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Protecção da vegetação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291072" y="371246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0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da cobertura vegetal nativa e controlo de desmatamento.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099048" y="4462272"/>
            <a:ext cx="2596896" cy="1581912"/>
          </a:xfrm>
          <a:prstGeom prst="rect">
            <a:avLst/>
          </a:prstGeom>
          <a:solidFill>
            <a:srgbClr val="78968A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4663440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291072" y="517550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Prevenção da erosão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6291072" y="544982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0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Controlo do escoamento e estabilização de taludes e margens.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8833104" y="4462272"/>
            <a:ext cx="2596896" cy="1581912"/>
          </a:xfrm>
          <a:prstGeom prst="rect">
            <a:avLst/>
          </a:prstGeom>
          <a:solidFill>
            <a:srgbClr val="78968A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5128" y="466344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025128" y="517550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Orla marítima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9025128" y="544982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0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Protecção da faixa costeira e controlo da ocupação litoral.</a:t>
            </a:r>
            <a:endParaRPr lang="en-US" sz="1150" dirty="0"/>
          </a:p>
        </p:txBody>
      </p:sp>
      <p:sp>
        <p:nvSpPr>
          <p:cNvPr id="23" name="!!PageNum"/>
          <p:cNvSpPr txBox="1"/>
          <p:nvPr/>
        </p:nvSpPr>
        <p:spPr>
          <a:xfrm>
            <a:off x="10332720" y="64190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3A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hoto" descr="Formações rochos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029200"/>
            <a:ext cx="12198096" cy="1828800"/>
          </a:xfrm>
          <a:prstGeom prst="rect">
            <a:avLst/>
          </a:prstGeom>
        </p:spPr>
      </p:pic>
      <p:sp>
        <p:nvSpPr>
          <p:cNvPr id="3" name="!!Kicker"/>
          <p:cNvSpPr txBox="1"/>
          <p:nvPr/>
        </p:nvSpPr>
        <p:spPr>
          <a:xfrm>
            <a:off x="758952" y="53035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3B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11 · MECANISMOS DE PROTECÇÃO</a:t>
            </a:r>
            <a:endParaRPr lang="en-US" sz="1100" dirty="0"/>
          </a:p>
        </p:txBody>
      </p:sp>
      <p:sp>
        <p:nvSpPr>
          <p:cNvPr id="4" name="!!Title"/>
          <p:cNvSpPr txBox="1"/>
          <p:nvPr/>
        </p:nvSpPr>
        <p:spPr>
          <a:xfrm>
            <a:off x="758952" y="896112"/>
            <a:ext cx="106619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mecanismos jurídicos de protecção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58952" y="1609344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D8D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regime das zonas de protecção parcial articula vários instrumentos jurídico-administrativos para impedir utilizações incompatíveis com o interesse público.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768096" y="2688336"/>
            <a:ext cx="1993392" cy="2176272"/>
          </a:xfrm>
          <a:prstGeom prst="rect">
            <a:avLst/>
          </a:prstGeom>
          <a:solidFill>
            <a:srgbClr val="0E3226"/>
          </a:solidFill>
          <a:ln w="12700">
            <a:solidFill>
              <a:srgbClr val="4A5A2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32688" y="290779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3B9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3438144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Proibição do DUAT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3877056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4D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Impedimento de aquisição de direitos de uso e aproveitamento da terra (art. 9.º).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937967" y="2688336"/>
            <a:ext cx="1993392" cy="2176272"/>
          </a:xfrm>
          <a:prstGeom prst="rect">
            <a:avLst/>
          </a:prstGeom>
          <a:solidFill>
            <a:srgbClr val="0E3226"/>
          </a:solidFill>
          <a:ln w="12700">
            <a:solidFill>
              <a:srgbClr val="4A5A2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02559" y="290779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3B9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3102559" y="3438144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Licenciamento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102559" y="3877056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4D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sujeitas a licença prévia da entidade competente (art. 8.º do Decreto).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107838" y="2688336"/>
            <a:ext cx="1993392" cy="2176272"/>
          </a:xfrm>
          <a:prstGeom prst="rect">
            <a:avLst/>
          </a:prstGeom>
          <a:solidFill>
            <a:srgbClr val="0E3226"/>
          </a:solidFill>
          <a:ln w="12700">
            <a:solidFill>
              <a:srgbClr val="4A5A2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72430" y="290779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3B9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5272430" y="3438144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 de construções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272430" y="3877056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4D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Restrições à edificação e ocupação do solo em zonas sensíveis.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277710" y="2688336"/>
            <a:ext cx="1993392" cy="2176272"/>
          </a:xfrm>
          <a:prstGeom prst="rect">
            <a:avLst/>
          </a:prstGeom>
          <a:solidFill>
            <a:srgbClr val="0E3226"/>
          </a:solidFill>
          <a:ln w="12700">
            <a:solidFill>
              <a:srgbClr val="4A5A2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42302" y="290779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3B9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800" dirty="0"/>
          </a:p>
        </p:txBody>
      </p:sp>
      <p:sp>
        <p:nvSpPr>
          <p:cNvPr id="20" name="Text 17"/>
          <p:cNvSpPr txBox="1"/>
          <p:nvPr/>
        </p:nvSpPr>
        <p:spPr>
          <a:xfrm>
            <a:off x="7442302" y="3438144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Fiscalização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442302" y="3877056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4D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Actuação da Administração Pública no controlo e vigilância das zonas.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447581" y="2688336"/>
            <a:ext cx="1993392" cy="2176272"/>
          </a:xfrm>
          <a:prstGeom prst="rect">
            <a:avLst/>
          </a:prstGeom>
          <a:solidFill>
            <a:srgbClr val="0E3226"/>
          </a:solidFill>
          <a:ln w="12700">
            <a:solidFill>
              <a:srgbClr val="4A5A2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612173" y="290779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3B9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800" dirty="0"/>
          </a:p>
        </p:txBody>
      </p:sp>
      <p:sp>
        <p:nvSpPr>
          <p:cNvPr id="24" name="Text 21"/>
          <p:cNvSpPr txBox="1"/>
          <p:nvPr/>
        </p:nvSpPr>
        <p:spPr>
          <a:xfrm>
            <a:off x="9612173" y="3438144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Licenciamento ambiental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9612173" y="3877056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4D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de impacto ambiental quando aplicável à actividade.</a:t>
            </a:r>
            <a:endParaRPr lang="en-US" sz="1200" dirty="0"/>
          </a:p>
        </p:txBody>
      </p:sp>
      <p:sp>
        <p:nvSpPr>
          <p:cNvPr id="26" name="!!PageNum"/>
          <p:cNvSpPr txBox="1"/>
          <p:nvPr/>
        </p:nvSpPr>
        <p:spPr>
          <a:xfrm>
            <a:off x="10332720" y="64190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C8D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glitter pattern="hexagon" dir="l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hoto" descr="Terreno seco e rocho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97296" y="0"/>
            <a:ext cx="6400800" cy="6858000"/>
          </a:xfrm>
          <a:prstGeom prst="rect">
            <a:avLst/>
          </a:prstGeom>
        </p:spPr>
      </p:pic>
      <p:sp>
        <p:nvSpPr>
          <p:cNvPr id="3" name="!!Kicker"/>
          <p:cNvSpPr txBox="1"/>
          <p:nvPr/>
        </p:nvSpPr>
        <p:spPr>
          <a:xfrm>
            <a:off x="530352" y="5303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12 · EROSÃO</a:t>
            </a:r>
            <a:endParaRPr lang="en-US" sz="1100" dirty="0"/>
          </a:p>
        </p:txBody>
      </p:sp>
      <p:sp>
        <p:nvSpPr>
          <p:cNvPr id="4" name="!!Title"/>
          <p:cNvSpPr txBox="1"/>
          <p:nvPr/>
        </p:nvSpPr>
        <p:spPr>
          <a:xfrm>
            <a:off x="530352" y="896112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1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Combate à erosão e faixas de protecção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30352" y="2029968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erosão pode ser agravada pela retirada da vegetação, pela construção desordenada e pela ocupação das margens dos rios. Serra e Cunha relacionam directamente as zonas de protecção parcial com o combate à erosão e a criação de áreas de segurança.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30352" y="3182112"/>
            <a:ext cx="4572000" cy="1024128"/>
          </a:xfrm>
          <a:prstGeom prst="rect">
            <a:avLst/>
          </a:prstGeom>
          <a:solidFill>
            <a:srgbClr val="F0E8D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58952" y="3310128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5.º · DECRETO N.º 66/98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58952" y="351129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1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protecção até 50 metros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58952" y="380390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longo das águas fluviais e lacustres navegáveis.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530352" y="4389120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CAUSAS AGRAVANTES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30352" y="4626864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Retirada da cobertura vegetal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desordenada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indevida das margens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931152" y="6345936"/>
            <a:ext cx="3657600" cy="274320"/>
          </a:xfrm>
          <a:prstGeom prst="rect">
            <a:avLst/>
          </a:prstGeom>
          <a:solidFill>
            <a:srgbClr val="6F847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EROSÃO — RISCO DE DEGRADAÇÃO DO SOLO</a:t>
            </a:r>
            <a:endParaRPr lang="en-US" sz="1000" dirty="0"/>
          </a:p>
        </p:txBody>
      </p:sp>
      <p:sp>
        <p:nvSpPr>
          <p:cNvPr id="13" name="!!PageNum"/>
          <p:cNvSpPr txBox="1"/>
          <p:nvPr/>
        </p:nvSpPr>
        <p:spPr>
          <a:xfrm>
            <a:off x="530352" y="64190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2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hoto" descr="Rochas na sava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8096" cy="6858000"/>
          </a:xfrm>
          <a:prstGeom prst="rect">
            <a:avLst/>
          </a:prstGeom>
        </p:spPr>
      </p:pic>
      <p:sp>
        <p:nvSpPr>
          <p:cNvPr id="3" name="!!Kicker"/>
          <p:cNvSpPr txBox="1"/>
          <p:nvPr/>
        </p:nvSpPr>
        <p:spPr>
          <a:xfrm>
            <a:off x="758952" y="23957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3B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13 · CONCLUSÃO</a:t>
            </a:r>
            <a:endParaRPr lang="en-US" sz="1100" dirty="0"/>
          </a:p>
        </p:txBody>
      </p:sp>
      <p:sp>
        <p:nvSpPr>
          <p:cNvPr id="4" name="!!Title"/>
          <p:cNvSpPr txBox="1"/>
          <p:nvPr/>
        </p:nvSpPr>
        <p:spPr>
          <a:xfrm>
            <a:off x="758952" y="2706624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instrumento de equilíbrio entre economia e conservação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768096" y="4416552"/>
            <a:ext cx="1975104" cy="1664208"/>
          </a:xfrm>
          <a:prstGeom prst="rect">
            <a:avLst/>
          </a:prstGeom>
          <a:solidFill>
            <a:srgbClr val="1E3A2F">
              <a:alpha val="80000"/>
            </a:srgbClr>
          </a:solidFill>
          <a:ln w="12700">
            <a:solidFill>
              <a:srgbClr val="6A7A3A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458114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3544" y="503834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 jurídico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923544" y="5294376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Protecção de áreas de interesse público.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2903220" y="4416552"/>
            <a:ext cx="1975104" cy="1664208"/>
          </a:xfrm>
          <a:prstGeom prst="rect">
            <a:avLst/>
          </a:prstGeom>
          <a:solidFill>
            <a:srgbClr val="1E3A2F">
              <a:alpha val="80000"/>
            </a:srgbClr>
          </a:solidFill>
          <a:ln w="12700">
            <a:solidFill>
              <a:srgbClr val="6A7A3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8668" y="4581144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058668" y="503834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DUAT vedado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3058668" y="5294376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9.º impede a aquisição, com licenças especiais admitidas.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038344" y="4416552"/>
            <a:ext cx="1975104" cy="1664208"/>
          </a:xfrm>
          <a:prstGeom prst="rect">
            <a:avLst/>
          </a:prstGeom>
          <a:solidFill>
            <a:srgbClr val="1E3A2F">
              <a:alpha val="80000"/>
            </a:srgbClr>
          </a:solidFill>
          <a:ln w="12700">
            <a:solidFill>
              <a:srgbClr val="6A7A3A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3792" y="458114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193792" y="503834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Licenciamento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5193792" y="5294376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económicas sujeitas a condições legais.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7173468" y="4416552"/>
            <a:ext cx="1975104" cy="1664208"/>
          </a:xfrm>
          <a:prstGeom prst="rect">
            <a:avLst/>
          </a:prstGeom>
          <a:solidFill>
            <a:srgbClr val="1E3A2F">
              <a:alpha val="80000"/>
            </a:srgbClr>
          </a:solidFill>
          <a:ln w="12700">
            <a:solidFill>
              <a:srgbClr val="6A7A3A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8916" y="4581144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328916" y="503834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7328916" y="5294376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Aproveitamento económico e conservação dos recursos naturais.</a:t>
            </a:r>
            <a:endParaRPr lang="en-US" sz="1200" dirty="0"/>
          </a:p>
        </p:txBody>
      </p:sp>
      <p:sp>
        <p:nvSpPr>
          <p:cNvPr id="21" name="!!PageNum"/>
          <p:cNvSpPr txBox="1"/>
          <p:nvPr/>
        </p:nvSpPr>
        <p:spPr>
          <a:xfrm>
            <a:off x="10332720" y="64190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DAD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800">
        <p14:vortex dir="r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2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hoto" descr="Agriculto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8096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1828800" y="1554480"/>
            <a:ext cx="85404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8800" dirty="0"/>
          </a:p>
        </p:txBody>
      </p:sp>
      <p:sp>
        <p:nvSpPr>
          <p:cNvPr id="4" name="Text 1"/>
          <p:cNvSpPr txBox="1"/>
          <p:nvPr/>
        </p:nvSpPr>
        <p:spPr>
          <a:xfrm>
            <a:off x="2743200" y="2971800"/>
            <a:ext cx="6711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0F0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Zonas de Protecção Parcial — um regime ao serviço do equilíbrio entre desenvolvimento e conservação.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3154680" y="4123944"/>
            <a:ext cx="5897880" cy="1307592"/>
          </a:xfrm>
          <a:prstGeom prst="rect">
            <a:avLst/>
          </a:prstGeom>
          <a:solidFill>
            <a:srgbClr val="062D20">
              <a:alpha val="65000"/>
            </a:srgbClr>
          </a:solidFill>
          <a:ln w="12700">
            <a:solidFill>
              <a:srgbClr val="B8A04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154680" y="4279392"/>
            <a:ext cx="5897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E3B9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PRINCIPAIS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3154680" y="4517136"/>
            <a:ext cx="5897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0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n.º 19/97, de 1 de Outubro · Lei de Terras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0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Decreto n.º 66/98, de 8 de Dezembro · Regulamento da Lei de Terras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0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Doutrina de Serra e Cunha · Direito Agrário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2743200" y="6382512"/>
            <a:ext cx="671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E0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DE DIREITO AGRÁRIO · MOÇAMBIQUE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Zonas de Protecção Parcial</dc:title>
  <dc:subject>PptxGenJS Presentation</dc:subject>
  <dc:creator>Trabalho de Direito Agrário · Moçambique</dc:creator>
  <cp:lastModifiedBy>Trabalho de Direito Agrário · Moçambique</cp:lastModifiedBy>
  <cp:revision>1</cp:revision>
  <dcterms:created xsi:type="dcterms:W3CDTF">2026-10-02T11:51:24Z</dcterms:created>
  <dcterms:modified xsi:type="dcterms:W3CDTF">2026-10-02T11:51:24Z</dcterms:modified>
</cp:coreProperties>
</file>