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Imagem de fundo: campos agrícolas vistos do ar, com degradê escuro para dar legibilidade ao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120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 DIREITO AGRÁRIO · MOÇAMBIQUE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62179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· DIREITO AGRÁRIO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064240" y="512064"/>
            <a:ext cx="384048" cy="384048"/>
          </a:xfrm>
          <a:prstGeom prst="ellipse">
            <a:avLst/>
          </a:prstGeom>
          <a:solidFill>
            <a:srgbClr val="062D20">
              <a:alpha val="65000"/>
            </a:srgbClr>
          </a:solidFill>
          <a:ln w="19050">
            <a:solidFill>
              <a:srgbClr val="6C93D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824" y="612648"/>
            <a:ext cx="182880" cy="182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" y="3941064"/>
            <a:ext cx="539496" cy="27432"/>
          </a:xfrm>
          <a:prstGeom prst="rect">
            <a:avLst/>
          </a:prstGeom>
          <a:solidFill>
            <a:srgbClr val="E3B93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" y="4160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Zonas de Proteção Parcial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758952" y="5257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2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n.º 19/97, de 1 de Outubro — Lei de Terras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2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Decreto n.º 66/98, de 8 de Dezembro — Regulamento da Lei de Terras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63459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DAD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OUTUBRO ·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5303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E8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· ZONAS DE PROTEÇÃO PARCIAL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365992" y="557784"/>
            <a:ext cx="73152" cy="73152"/>
          </a:xfrm>
          <a:prstGeom prst="ellipse">
            <a:avLst/>
          </a:prstGeom>
          <a:solidFill>
            <a:srgbClr val="E3B9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58952" y="1554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29443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PRIMEIRO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3273552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do Regime de Protecção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68172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D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Introdução, problemática, objectivos e metodologia que enquadram o estudo das zonas de protecção parcial em Moçambique.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634593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AD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 DIREITO AGRÁRIO · MOÇAMBIQUE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63459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DAD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sta e rio em Moçamb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94944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5176" y="292608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20624" y="2560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FOTOGRAFIA · RIO EM MOÇAMBIQUE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65176" y="6227064"/>
            <a:ext cx="4297680" cy="365760"/>
          </a:xfrm>
          <a:prstGeom prst="rect">
            <a:avLst/>
          </a:prstGeom>
          <a:solidFill>
            <a:srgbClr val="3F5A4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29768" y="62270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MARGENS DE RIOS — ÁREAS DE PROTEÇÃO PARCIAL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232904" y="5303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01 · INTRODUÇÃO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232904" y="9144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terra como recurso fundacional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232904" y="2121408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terra constitui o recurso fundamental para o desenvolvimento económico, social e ambiental de Moçambique. A Lei de Terras estabelece as regras gerais para o acesso, uso e aproveitamento, reconhecendo simultaneamente a sua função produtiva e a sua função ecológica.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232904" y="38862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zonas de proteção parcial estão sujeitas a limitações específicas que procuram salvaguardar recursos naturais, infra-estruturas públicas e interesses colectivos, harmonizando a ocupação humana com a preservação ambiental.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232904" y="61447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N.º 19/97 · DECRETO N.º 66/98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0" y="6144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mpos agrícol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904" y="0"/>
            <a:ext cx="61081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89904" y="5852160"/>
            <a:ext cx="6108192" cy="1005840"/>
          </a:xfrm>
          <a:prstGeom prst="rect">
            <a:avLst/>
          </a:prstGeom>
          <a:solidFill>
            <a:srgbClr val="062D20">
              <a:alpha val="6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364224" y="60533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«As zonas de protecção parcial constituem domínio público.»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10149840" y="219456"/>
            <a:ext cx="1280160" cy="219456"/>
          </a:xfrm>
          <a:prstGeom prst="rect">
            <a:avLst/>
          </a:prstGeom>
          <a:solidFill>
            <a:srgbClr val="062D20">
              <a:alpha val="75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149840" y="2194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LEGAL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1375136" y="493776"/>
            <a:ext cx="566928" cy="566928"/>
          </a:xfrm>
          <a:prstGeom prst="ellipse">
            <a:avLst/>
          </a:prstGeom>
          <a:solidFill>
            <a:srgbClr val="6F8479"/>
          </a:solidFill>
          <a:ln w="25400">
            <a:solidFill>
              <a:srgbClr val="8FB0E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28" y="6583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0352" y="6035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02 · PROBLEMÁTICA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530352" y="98755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regime para as zonas de proteção parcial?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530352" y="2176272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 n.º 19/97 estabelece as zonas de proteção total e parcial como áreas do domínio público. Esta qualificação jurídica condiciona o regime de ocupação, uso e aproveitamento, levantando questões sobre a sua articulação com o desenvolvimento económico.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30352" y="3712464"/>
            <a:ext cx="5029200" cy="1865376"/>
          </a:xfrm>
          <a:prstGeom prst="rect">
            <a:avLst/>
          </a:prstGeom>
          <a:solidFill>
            <a:srgbClr val="E8E7DF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385876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DE PARTIDA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" y="4078224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1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que medida o regime jurídico das zonas de proteção parcial contribui para garantir a proteção e o uso sustentável da terra em Moçambique, e quais os principais desafios da sua implementação e fiscalização?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30352" y="60716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 · DIREITO AGRÁRIO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607161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chas na sava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0"/>
            <a:ext cx="475488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8096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03 · OBJECTIVOS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768096" y="731520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1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Objectivos do estudo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68096" y="1371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propõe-se analisar, de forma sistemática, o regime jurídico das zonas de proteção parcial em Moçambique, articulando fontes legais, doutrina e prática administrativa.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68096" y="2084832"/>
            <a:ext cx="10661904" cy="914400"/>
          </a:xfrm>
          <a:prstGeom prst="rect">
            <a:avLst/>
          </a:prstGeom>
          <a:solidFill>
            <a:srgbClr val="FBF6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33272" y="221284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OBJECTIVO GERAL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33272" y="2432304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o regime jurídico das zonas de proteção parcial em Moçambique, identificando o seu âmbito, mecanismos e desafios de implementação.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68096" y="3218688"/>
            <a:ext cx="5248656" cy="1371600"/>
          </a:xfrm>
          <a:prstGeom prst="rect">
            <a:avLst/>
          </a:prstGeom>
          <a:solidFill>
            <a:srgbClr val="6F847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87552" y="33649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3B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987552" y="38221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e enquadramento jurídico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87552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regime legal e identificar a base normativa aplicável.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81344" y="3218688"/>
            <a:ext cx="5248656" cy="1371600"/>
          </a:xfrm>
          <a:prstGeom prst="rect">
            <a:avLst/>
          </a:prstGeom>
          <a:solidFill>
            <a:srgbClr val="6F847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0" y="33649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3B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38221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áreas abrangidas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as categorias de zonas de proteção parcial previstas na lei.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68096" y="4754880"/>
            <a:ext cx="5248656" cy="1371600"/>
          </a:xfrm>
          <a:prstGeom prst="rect">
            <a:avLst/>
          </a:prstGeom>
          <a:solidFill>
            <a:srgbClr val="6F847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87552" y="49011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3B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987552" y="53583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 do DUAT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87552" y="56509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as restrições à aquisição de direitos de uso e aproveitamento da terra.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181344" y="4754880"/>
            <a:ext cx="5248656" cy="1371600"/>
          </a:xfrm>
          <a:prstGeom prst="rect">
            <a:avLst/>
          </a:prstGeom>
          <a:solidFill>
            <a:srgbClr val="6F847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0" y="49011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3B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0" y="53583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e conservação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0" y="56509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licenciamento de actividades e os mecanismos de conservação.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768096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OBJECTIVOS · DIREITO AGRÁRIO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332720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rmações rochos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5176" y="265176"/>
            <a:ext cx="2377440" cy="320040"/>
          </a:xfrm>
          <a:prstGeom prst="rect">
            <a:avLst/>
          </a:prstGeom>
          <a:solidFill>
            <a:srgbClr val="3F5A4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21792" y="26517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DOCUMENTAL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356616"/>
            <a:ext cx="128016" cy="12801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00016" y="6062472"/>
            <a:ext cx="521208" cy="521208"/>
          </a:xfrm>
          <a:prstGeom prst="ellipse">
            <a:avLst/>
          </a:prstGeom>
          <a:solidFill>
            <a:srgbClr val="6F8479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6227064"/>
            <a:ext cx="219456" cy="21945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016752" y="5303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04 · METODOLOGIA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6016752" y="8961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Caminho metodológico</a:t>
            </a:r>
            <a:endParaRPr lang="en-US" sz="3600" dirty="0"/>
          </a:p>
        </p:txBody>
      </p:sp>
      <p:sp>
        <p:nvSpPr>
          <p:cNvPr id="10" name="Text 5"/>
          <p:cNvSpPr txBox="1"/>
          <p:nvPr/>
        </p:nvSpPr>
        <p:spPr>
          <a:xfrm>
            <a:off x="6016752" y="160934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 adopta uma abordagem qualitativa, de carácter descritivo e exploratório, apoiada em pesquisa bibliográfica e documental sobre o regime jurídico moçambicano da terra.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6016752" y="261518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PRINCIPAIS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6016752" y="2852928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n.º 19/97, de 1 de Outubro — Lei de Terras</a:t>
            </a:r>
            <a:endParaRPr lang="en-US" sz="15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Decreto n.º 66/98, de 8 de Dezembro — Regulamento</a:t>
            </a:r>
            <a:endParaRPr lang="en-US" sz="15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Doutrina de Serra e Cunha sobre direito agrário</a:t>
            </a:r>
            <a:endParaRPr lang="en-US" sz="15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sectorial complementar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016752" y="4471416"/>
            <a:ext cx="5641848" cy="950976"/>
          </a:xfrm>
          <a:prstGeom prst="rect">
            <a:avLst/>
          </a:prstGeom>
          <a:solidFill>
            <a:srgbClr val="E8E7DF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217920" y="460857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 DE ANÁLISE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6217920" y="4828032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Organização, classificação, interpretação e discussão sistemática dos dados normativos e doutrinais recolhidos.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6016752" y="61447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· ABORDAGEM QUALITATIVA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10561320" y="6144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ista de aeropor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5936" y="0"/>
            <a:ext cx="58521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58952" y="17373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400" dirty="0"/>
          </a:p>
        </p:txBody>
      </p:sp>
      <p:sp>
        <p:nvSpPr>
          <p:cNvPr id="4" name="Text 1"/>
          <p:cNvSpPr txBox="1"/>
          <p:nvPr/>
        </p:nvSpPr>
        <p:spPr>
          <a:xfrm>
            <a:off x="2852928" y="1874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SEGUNDO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2852928" y="2176272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Jurídico das Zonas de Protecção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2852928" y="36118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4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Conceito, enquadramento legal, principais áreas abrangidas e o regime de aquisição do DUAT nas zonas de protecção parcial.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2852928" y="5010912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3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N.º 19/97     |     DECRETO N.º 66/98     |     SERRA &amp; CUNHA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58952" y="64190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8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PROTEÇÃO PARCIAL · DIREITO AGRÁRIO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332720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8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ricultores a trabalhar a ter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36" y="0"/>
            <a:ext cx="49377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58952" y="5303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05 · CONCEITO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758952" y="896112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Áreas sujeitas a regime especial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758952" y="2029968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zonas de proteção parcial são áreas do território nacional sujeitas a um regime jurídico especial de protecção e utilização, destinadas a salvaguardar recursos naturais, infra-estruturas e interesses públicos relevantes.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58952" y="310896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6.º da Lei n.º 19/97 — zonas de protecção total e parcial constituem domínio público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8.º da mesma lei — identifica as áreas consideradas zonas de protecção parcial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Decreto n.º 66/98 — complementa e desenvolve o regime legal aplicável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Doutrina de Serra e Cunha — sublinha a importância para a protecção ambiental e o combate à erosão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8952" y="5687568"/>
            <a:ext cx="6035040" cy="841248"/>
          </a:xfrm>
          <a:prstGeom prst="rect">
            <a:avLst/>
          </a:prstGeom>
          <a:solidFill>
            <a:srgbClr val="F0E8D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78408" y="5797296"/>
            <a:ext cx="5623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1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«As zonas de protecção parcial constituem domínio público e estão sujeitas a um regime jurídico especial.»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978408" y="627278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LEI N.º 19/97, ART. 6.º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34656" y="5852160"/>
            <a:ext cx="3931920" cy="475488"/>
          </a:xfrm>
          <a:prstGeom prst="rect">
            <a:avLst/>
          </a:prstGeom>
          <a:solidFill>
            <a:srgbClr val="062D20">
              <a:alpha val="70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35824" y="59984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CÓDICE JURÍDICO · REGIME DA TERRA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332720" y="65471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06 · ÁREAS ABRANGIDAS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877824"/>
            <a:ext cx="914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1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áreas de proteção parcial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9144000" y="12801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N.º 19/97 · ART. 8.º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60934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 identifica um conjunto de categorias territoriais sujeitas a regime especial, repartidas entre protecção de recursos naturais, infra-estruturas públicas e interesses de soberania.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" y="2304288"/>
            <a:ext cx="2011680" cy="2670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523744"/>
            <a:ext cx="457200" cy="457200"/>
          </a:xfrm>
          <a:prstGeom prst="ellipse">
            <a:avLst/>
          </a:prstGeom>
          <a:solidFill>
            <a:srgbClr val="E6ECE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651760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32688" y="31089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6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332841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Águas, nascentes e barragens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38039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Protecção de fontes, rios e albufeiras.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32688" y="462686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HÍDRICOS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921508" y="2304288"/>
            <a:ext cx="2011680" cy="2670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095244" y="2523744"/>
            <a:ext cx="457200" cy="457200"/>
          </a:xfrm>
          <a:prstGeom prst="ellipse">
            <a:avLst/>
          </a:prstGeom>
          <a:solidFill>
            <a:srgbClr val="E6ECE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260" y="2651760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095244" y="31089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6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3095244" y="332841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férreas e estradas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3095244" y="38039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de segurança junto a vias de comunicação.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3095244" y="462686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INFRA-ESTRUTURAS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084064" y="2304288"/>
            <a:ext cx="2011680" cy="2670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257800" y="2523744"/>
            <a:ext cx="457200" cy="457200"/>
          </a:xfrm>
          <a:prstGeom prst="ellipse">
            <a:avLst/>
          </a:prstGeom>
          <a:solidFill>
            <a:srgbClr val="E6ECE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2651760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257800" y="31089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6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5257800" y="332841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Aeroportos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5257800" y="38039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de protecção à navegação aérea.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5257800" y="462686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AÉREA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7246620" y="2304288"/>
            <a:ext cx="2011680" cy="2670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420356" y="2523744"/>
            <a:ext cx="457200" cy="457200"/>
          </a:xfrm>
          <a:prstGeom prst="ellipse">
            <a:avLst/>
          </a:prstGeom>
          <a:solidFill>
            <a:srgbClr val="E6ECE6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8372" y="2651760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420356" y="31089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6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7420356" y="332841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Instalações militares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7420356" y="38039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Perímetros de segurança nacional.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7420356" y="462686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SOBERANIA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9409176" y="2304288"/>
            <a:ext cx="2011680" cy="2670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9582912" y="2523744"/>
            <a:ext cx="457200" cy="457200"/>
          </a:xfrm>
          <a:prstGeom prst="ellipse">
            <a:avLst/>
          </a:prstGeom>
          <a:solidFill>
            <a:srgbClr val="E6ECE6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28" y="2651760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582912" y="31089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6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9582912" y="332841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 terrestre</a:t>
            </a:r>
            <a:endParaRPr lang="en-US" sz="1500" dirty="0"/>
          </a:p>
        </p:txBody>
      </p:sp>
      <p:sp>
        <p:nvSpPr>
          <p:cNvPr id="39" name="Text 32"/>
          <p:cNvSpPr txBox="1"/>
          <p:nvPr/>
        </p:nvSpPr>
        <p:spPr>
          <a:xfrm>
            <a:off x="9582912" y="38039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ao longo da fronteira do território.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9582912" y="462686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TERRITORIAL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758952" y="5202936"/>
            <a:ext cx="10661904" cy="749808"/>
          </a:xfrm>
          <a:prstGeom prst="rect">
            <a:avLst/>
          </a:prstGeom>
          <a:solidFill>
            <a:srgbClr val="E1E4DB"/>
          </a:solidFill>
          <a:ln/>
        </p:spPr>
      </p:sp>
      <p:sp>
        <p:nvSpPr>
          <p:cNvPr id="42" name="Shape 35"/>
          <p:cNvSpPr/>
          <p:nvPr/>
        </p:nvSpPr>
        <p:spPr>
          <a:xfrm>
            <a:off x="969264" y="536752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3" name="Text 36"/>
          <p:cNvSpPr txBox="1"/>
          <p:nvPr/>
        </p:nvSpPr>
        <p:spPr>
          <a:xfrm>
            <a:off x="969264" y="5367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 5.º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1572768" y="540410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DECRETO N.º 66/98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1572768" y="558698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protecção até 50 metros junto das águas fluviais e lacustres navegáveis.</a:t>
            </a:r>
            <a:endParaRPr lang="en-US" sz="1500" dirty="0"/>
          </a:p>
        </p:txBody>
      </p:sp>
      <p:sp>
        <p:nvSpPr>
          <p:cNvPr id="46" name="Text 39"/>
          <p:cNvSpPr txBox="1"/>
          <p:nvPr/>
        </p:nvSpPr>
        <p:spPr>
          <a:xfrm>
            <a:off x="9144000" y="54864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 · NAVEGAÇÃO</a:t>
            </a:r>
            <a:endParaRPr lang="en-US" sz="1100" dirty="0"/>
          </a:p>
        </p:txBody>
      </p:sp>
      <p:sp>
        <p:nvSpPr>
          <p:cNvPr id="47" name="Text 40"/>
          <p:cNvSpPr txBox="1"/>
          <p:nvPr/>
        </p:nvSpPr>
        <p:spPr>
          <a:xfrm>
            <a:off x="758952" y="64190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PROTEÇÃO PARCIAL · DIREITO AGRÁRIO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10332720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2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84080" y="365760"/>
            <a:ext cx="2011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0" b="1" dirty="0">
                <a:solidFill>
                  <a:srgbClr val="0E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23000" dirty="0"/>
          </a:p>
        </p:txBody>
      </p:sp>
      <p:sp>
        <p:nvSpPr>
          <p:cNvPr id="3" name="Text 1"/>
          <p:cNvSpPr txBox="1"/>
          <p:nvPr/>
        </p:nvSpPr>
        <p:spPr>
          <a:xfrm>
            <a:off x="1828800" y="640080"/>
            <a:ext cx="8540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07 · AQUISIÇÃO DO DUAT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1051560"/>
            <a:ext cx="8540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9.º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2157984"/>
            <a:ext cx="8540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C8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N.º 19/97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01952" y="2624328"/>
            <a:ext cx="8385048" cy="1261872"/>
          </a:xfrm>
          <a:prstGeom prst="rect">
            <a:avLst/>
          </a:prstGeom>
          <a:solidFill>
            <a:srgbClr val="1638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86000" y="2798064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«Nas zonas de protecção total e parcial não podem ser adquiridos direitos de uso e aproveitamento da terra.»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68096" y="4178808"/>
            <a:ext cx="3419856" cy="1938528"/>
          </a:xfrm>
          <a:prstGeom prst="rect">
            <a:avLst/>
          </a:prstGeom>
          <a:solidFill>
            <a:srgbClr val="0B3125"/>
          </a:solidFill>
          <a:ln w="12700">
            <a:solidFill>
              <a:srgbClr val="4A5A2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39826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87552" y="49286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B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87552" y="5184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Proibição do DUAT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87552" y="5477256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4D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possível adquirir o Direito de Uso e Aproveitamento da Terra nestas zonas.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89120" y="4178808"/>
            <a:ext cx="3419856" cy="1938528"/>
          </a:xfrm>
          <a:prstGeom prst="rect">
            <a:avLst/>
          </a:prstGeom>
          <a:solidFill>
            <a:srgbClr val="0B3125"/>
          </a:solidFill>
          <a:ln w="12700">
            <a:solidFill>
              <a:srgbClr val="4A5A2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439826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08576" y="49286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B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608576" y="5184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Licenças especiais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608576" y="5477256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4D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ser emitidas licenças para actividades específicas, devidamente condicionadas.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10144" y="4178808"/>
            <a:ext cx="3419856" cy="1938528"/>
          </a:xfrm>
          <a:prstGeom prst="rect">
            <a:avLst/>
          </a:prstGeom>
          <a:solidFill>
            <a:srgbClr val="0B3125"/>
          </a:solidFill>
          <a:ln w="12700">
            <a:solidFill>
              <a:srgbClr val="4A5A2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398264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49286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3B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0" y="5184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equivale a propriedade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229600" y="5477256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4D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licença especial não se confunde com propriedade nem com DUAT.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758952" y="64190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8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PROTEÇÃO PARCIAL · DIREITO AGRÁRIO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0332720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8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mpos agrícol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7456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58952" y="17373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400" dirty="0"/>
          </a:p>
        </p:txBody>
      </p:sp>
      <p:sp>
        <p:nvSpPr>
          <p:cNvPr id="4" name="Text 1"/>
          <p:cNvSpPr txBox="1"/>
          <p:nvPr/>
        </p:nvSpPr>
        <p:spPr>
          <a:xfrm>
            <a:off x="2788920" y="1874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TERCEIRO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2788920" y="2176272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Actividades, Conservação e Mecanismos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2788920" y="36118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4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regime das zonas de protecção parcial não significa ausência de actividade humana, mas sim a sua sujeição a um quadro rigoroso de licenciamento e limitações.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2788920" y="5010912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3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    |     CONSERVAÇÃO     |     MECANISMOS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58952" y="64190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8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PROTEÇÃO PARCIAL · DIREITO AGRÁRIO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332720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8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ista de aeropor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9048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401568" y="265176"/>
            <a:ext cx="2423160" cy="438912"/>
          </a:xfrm>
          <a:prstGeom prst="rect">
            <a:avLst/>
          </a:prstGeom>
          <a:solidFill>
            <a:srgbClr val="6F84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E3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DE LICENCIAMENTO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265176" y="6309360"/>
            <a:ext cx="3474720" cy="329184"/>
          </a:xfrm>
          <a:prstGeom prst="rect">
            <a:avLst/>
          </a:prstGeom>
          <a:solidFill>
            <a:srgbClr val="062D20">
              <a:alpha val="70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20624" y="63093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INFRA-ESTRUTURAS EM ÁREAS PROTEGIDAS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620256" y="5303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08 · ACTIVIDADES ECONÓMICAS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620256" y="89611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Actividade económica condicionada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620256" y="2029968"/>
            <a:ext cx="4809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zonas de protecção parcial não são necessariamente áreas despovoadas de actividade humana. O exercício de actividades está condicionado ao regime de protecção, devendo conciliar o uso económico com a finalidade protectora da zona.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620256" y="3099816"/>
            <a:ext cx="4809744" cy="969264"/>
          </a:xfrm>
          <a:prstGeom prst="rect">
            <a:avLst/>
          </a:prstGeom>
          <a:solidFill>
            <a:srgbClr val="E8E7D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21424" y="324612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 — ART. 8.º DO DECRETO N.º 66/98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821424" y="3474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actividades devem ser licenciadas pela entidade competente.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620256" y="431596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6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A CONSIDERAR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620256" y="4553712"/>
            <a:ext cx="4809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 da actividade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e finalidade da zona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sectorial aplicável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impactos ambientais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específicas da licença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332720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303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09 · ECONOMIA E AMBIENTE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877824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1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Equilibrar uso e protecção ambiental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5727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actividade económica deve respeitar a finalidade protectora da zona. O uso inadequado dos recursos pode desencadear impactos ambientais severos e comprometer os objectivos do regime.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68096" y="2432304"/>
            <a:ext cx="5175504" cy="3419856"/>
          </a:xfrm>
          <a:prstGeom prst="rect">
            <a:avLst/>
          </a:prstGeom>
          <a:solidFill>
            <a:srgbClr val="062D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33272" y="270662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3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SUSTENTÁVEL PERMITIDO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30358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33272" y="3584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sustentável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1033272" y="4005072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licenciadas pela entidade competente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Respeito pela finalidade protectora da zona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prévia de impactos ambientais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D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Cumprimento da legislação sectorial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54496" y="2432304"/>
            <a:ext cx="5175504" cy="34198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37960" y="270662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DE USO INADEQUADO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035808"/>
            <a:ext cx="347472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37960" y="3584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6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Consequências adversas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4005072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Erosão acelerada dos solos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Poluição de águas e solos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Destruição da vegetação nativa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Degradação dos ecossistemas locais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332720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10 · CONSERVAÇÃO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1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Conservar para proteger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3898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conservação constitui uma das principais finalidades das zonas de protecção parcial, abrangendo a preservação de ecossistemas, a prevenção da degradação e o controlo da ocupação territorial.</a:t>
            </a:r>
            <a:endParaRPr lang="en-US" sz="1450" dirty="0"/>
          </a:p>
        </p:txBody>
      </p:sp>
      <p:pic>
        <p:nvPicPr>
          <p:cNvPr id="5" name="Image 0" descr="Vegetação e camp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724912"/>
            <a:ext cx="5193792" cy="3291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50840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3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950976" y="52669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Preservação de ecossistemas e vegetação nativa</a:t>
            </a:r>
            <a:endParaRPr lang="en-US" sz="2000" dirty="0"/>
          </a:p>
        </p:txBody>
      </p:sp>
      <p:pic>
        <p:nvPicPr>
          <p:cNvPr id="8" name="Image 1" descr="Costa e marge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104" y="2724912"/>
            <a:ext cx="2596896" cy="1600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015984" y="371246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3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MARGENS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9015984" y="38953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e margens dos rios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099048" y="2724912"/>
            <a:ext cx="2596896" cy="1581912"/>
          </a:xfrm>
          <a:prstGeom prst="rect">
            <a:avLst/>
          </a:prstGeom>
          <a:solidFill>
            <a:srgbClr val="78968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9260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91072" y="34381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Protecção da vegetação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291072" y="371246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da cobertura vegetal nativa e controlo de desmatamento.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099048" y="4462272"/>
            <a:ext cx="2596896" cy="1581912"/>
          </a:xfrm>
          <a:prstGeom prst="rect">
            <a:avLst/>
          </a:prstGeom>
          <a:solidFill>
            <a:srgbClr val="78968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466344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291072" y="51755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da erosão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291072" y="544982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do escoamento e estabilização de taludes e margens.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8833104" y="4462272"/>
            <a:ext cx="2596896" cy="1581912"/>
          </a:xfrm>
          <a:prstGeom prst="rect">
            <a:avLst/>
          </a:prstGeom>
          <a:solidFill>
            <a:srgbClr val="78968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5128" y="466344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025128" y="51755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 marítima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9025128" y="544982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Protecção da faixa costeira e controlo da ocupação litoral.</a:t>
            </a:r>
            <a:endParaRPr lang="en-US" sz="1150" dirty="0"/>
          </a:p>
        </p:txBody>
      </p:sp>
      <p:sp>
        <p:nvSpPr>
          <p:cNvPr id="23" name="Text 16"/>
          <p:cNvSpPr txBox="1"/>
          <p:nvPr/>
        </p:nvSpPr>
        <p:spPr>
          <a:xfrm>
            <a:off x="10332720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rmações rochos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029200"/>
            <a:ext cx="12198096" cy="1828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58952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11 · MECANISMOS DE PROTECÇÃO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758952" y="896112"/>
            <a:ext cx="10661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mecanismos jurídicos de protecção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58952" y="160934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8D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regime das zonas de protecção parcial articula vários instrumentos jurídico-administrativos para impedir utilizações incompatíveis com o interesse público.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768096" y="2688336"/>
            <a:ext cx="1993392" cy="2176272"/>
          </a:xfrm>
          <a:prstGeom prst="rect">
            <a:avLst/>
          </a:prstGeom>
          <a:solidFill>
            <a:srgbClr val="0E3226"/>
          </a:solidFill>
          <a:ln w="12700">
            <a:solidFill>
              <a:srgbClr val="4A5A2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32688" y="290779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3B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343814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Proibição do DUAT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3877056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Impedimento de aquisição de direitos de uso e aproveitamento da terra (art. 9.º).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37967" y="2688336"/>
            <a:ext cx="1993392" cy="2176272"/>
          </a:xfrm>
          <a:prstGeom prst="rect">
            <a:avLst/>
          </a:prstGeom>
          <a:solidFill>
            <a:srgbClr val="0E3226"/>
          </a:solidFill>
          <a:ln w="12700">
            <a:solidFill>
              <a:srgbClr val="4A5A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02559" y="290779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3B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3102559" y="343814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Licenciamento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102559" y="3877056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sujeitas a licença prévia da entidade competente (art. 8.º do Decreto).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07838" y="2688336"/>
            <a:ext cx="1993392" cy="2176272"/>
          </a:xfrm>
          <a:prstGeom prst="rect">
            <a:avLst/>
          </a:prstGeom>
          <a:solidFill>
            <a:srgbClr val="0E3226"/>
          </a:solidFill>
          <a:ln w="12700">
            <a:solidFill>
              <a:srgbClr val="4A5A2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72430" y="290779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3B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5272430" y="343814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 de construções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272430" y="3877056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 à edificação e ocupação do solo em zonas sensíveis.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277710" y="2688336"/>
            <a:ext cx="1993392" cy="2176272"/>
          </a:xfrm>
          <a:prstGeom prst="rect">
            <a:avLst/>
          </a:prstGeom>
          <a:solidFill>
            <a:srgbClr val="0E3226"/>
          </a:solidFill>
          <a:ln w="12700">
            <a:solidFill>
              <a:srgbClr val="4A5A2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42302" y="290779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3B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7442302" y="343814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Fiscalização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442302" y="3877056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Actuação da Administração Pública no controlo e vigilância das zonas.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447581" y="2688336"/>
            <a:ext cx="1993392" cy="2176272"/>
          </a:xfrm>
          <a:prstGeom prst="rect">
            <a:avLst/>
          </a:prstGeom>
          <a:solidFill>
            <a:srgbClr val="0E3226"/>
          </a:solidFill>
          <a:ln w="12700">
            <a:solidFill>
              <a:srgbClr val="4A5A2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12173" y="290779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3B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9612173" y="343814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Licenciamento ambiental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612173" y="3877056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impacto ambiental quando aplicável à actividade.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332720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8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rreno seco e rocho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7296" y="0"/>
            <a:ext cx="64008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0352" y="5303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12 · EROSÃO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30352" y="896112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Combate à erosão e faixas de protecção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30352" y="2029968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erosão pode ser agravada pela retirada da vegetação, pela construção desordenada e pela ocupação das margens dos rios. Serra e Cunha relacionam directamente as zonas de protecção parcial com o combate à erosão e a criação de áreas de segurança.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30352" y="3182112"/>
            <a:ext cx="4572000" cy="1024128"/>
          </a:xfrm>
          <a:prstGeom prst="rect">
            <a:avLst/>
          </a:prstGeom>
          <a:solidFill>
            <a:srgbClr val="F0E8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" y="33101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5.º · DECRETO N.º 66/98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58952" y="351129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protecção até 50 metros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58952" y="380390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longo das águas fluviais e lacustres navegáveis.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43891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 AGRAVANTES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30352" y="4626864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Retirada da cobertura vegetal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desordenada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indevida das margens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931152" y="6345936"/>
            <a:ext cx="3657600" cy="274320"/>
          </a:xfrm>
          <a:prstGeom prst="rect">
            <a:avLst/>
          </a:prstGeom>
          <a:solidFill>
            <a:srgbClr val="6F84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EROSÃO — RISCO DE DEGRADAÇÃO DO SOLO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23957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13 · CONCLUSÃO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706624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instrumento de equilíbrio entre economia e conservação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68096" y="4416552"/>
            <a:ext cx="1975104" cy="1664208"/>
          </a:xfrm>
          <a:prstGeom prst="rect">
            <a:avLst/>
          </a:prstGeom>
          <a:solidFill>
            <a:srgbClr val="1E3A2F">
              <a:alpha val="80000"/>
            </a:srgbClr>
          </a:solidFill>
          <a:ln w="12700">
            <a:solidFill>
              <a:srgbClr val="6A7A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458114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23544" y="50383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 jurídico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23544" y="529437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Protecção de áreas de interesse público.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03220" y="4416552"/>
            <a:ext cx="1975104" cy="1664208"/>
          </a:xfrm>
          <a:prstGeom prst="rect">
            <a:avLst/>
          </a:prstGeom>
          <a:solidFill>
            <a:srgbClr val="1E3A2F">
              <a:alpha val="80000"/>
            </a:srgbClr>
          </a:solidFill>
          <a:ln w="12700">
            <a:solidFill>
              <a:srgbClr val="6A7A3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668" y="458114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058668" y="50383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DUAT vedado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058668" y="529437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9.º impede a aquisição, com licenças especiais admitidas.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38344" y="4416552"/>
            <a:ext cx="1975104" cy="1664208"/>
          </a:xfrm>
          <a:prstGeom prst="rect">
            <a:avLst/>
          </a:prstGeom>
          <a:solidFill>
            <a:srgbClr val="1E3A2F">
              <a:alpha val="80000"/>
            </a:srgbClr>
          </a:solidFill>
          <a:ln w="12700">
            <a:solidFill>
              <a:srgbClr val="6A7A3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458114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93792" y="50383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Licenciamento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5193792" y="529437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económicas sujeitas a condições legais.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173468" y="4416552"/>
            <a:ext cx="1975104" cy="1664208"/>
          </a:xfrm>
          <a:prstGeom prst="rect">
            <a:avLst/>
          </a:prstGeom>
          <a:solidFill>
            <a:srgbClr val="1E3A2F">
              <a:alpha val="80000"/>
            </a:srgbClr>
          </a:solidFill>
          <a:ln w="12700">
            <a:solidFill>
              <a:srgbClr val="6A7A3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8916" y="458114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28916" y="50383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7328916" y="529437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Aproveitamento económico e conservação dos recursos naturais.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0332720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DAD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1554480"/>
            <a:ext cx="8540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2743200" y="2971800"/>
            <a:ext cx="6711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Zonas de Protecção Parcial — um regime ao serviço do equilíbrio entre desenvolvimento e conservação.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154680" y="4123944"/>
            <a:ext cx="5897880" cy="1307592"/>
          </a:xfrm>
          <a:prstGeom prst="rect">
            <a:avLst/>
          </a:prstGeom>
          <a:solidFill>
            <a:srgbClr val="062D20">
              <a:alpha val="65000"/>
            </a:srgbClr>
          </a:solidFill>
          <a:ln w="12700">
            <a:solidFill>
              <a:srgbClr val="B8A0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154680" y="4279392"/>
            <a:ext cx="5897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3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PRINCIPAIS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4517136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n.º 19/97, de 1 de Outubro · Lei de Terras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Decreto n.º 66/98, de 8 de Dezembro · Regulamento da Lei de Terras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0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Doutrina de Serra e Cunha · Direito Agrário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6382512"/>
            <a:ext cx="671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E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 DIREITO AGRÁRIO · MOÇAMBIQUE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Zonas de Protecção Parcial</dc:title>
  <dc:subject>PptxGenJS Presentation</dc:subject>
  <dc:creator>Trabalho de Direito Agrário · Moçambique</dc:creator>
  <cp:lastModifiedBy>Trabalho de Direito Agrário · Moçambique</cp:lastModifiedBy>
  <cp:revision>1</cp:revision>
  <dcterms:created xsi:type="dcterms:W3CDTF">2026-10-02T11:43:06Z</dcterms:created>
  <dcterms:modified xsi:type="dcterms:W3CDTF">2026-10-02T11:43:06Z</dcterms:modified>
</cp:coreProperties>
</file>